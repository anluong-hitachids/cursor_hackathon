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09728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48640"/>
            <a:ext cx="164592" cy="128016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DE1CE"/>
                </a:solidFill>
                <a:latin typeface="Calibri"/>
              </a:rPr>
              <a:t>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From Legacy to 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>
                <a:solidFill>
                  <a:srgbClr val="FDE1CE"/>
                </a:solidFill>
                <a:latin typeface="Calibri"/>
              </a:rPr>
              <a:t>AI‑Assisted ETL Migration: Java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Team / Author:  &lt;Your Name&gt;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DE1CE"/>
                </a:solidFill>
                <a:latin typeface="Calibri"/>
              </a:rPr>
              <a:t>Topic:  Convert a production Java ETL pipeline to Python using Cursor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Problem </a:t>
            </a:r>
            <a:r>
              <a:rPr sz="2200">
                <a:solidFill>
                  <a:srgbClr val="1B1B2E"/>
                </a:solidFill>
                <a:latin typeface="Calibri"/>
              </a:rPr>
              <a:t>Pain points của ETL Java legacy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Impact </a:t>
            </a:r>
            <a:r>
              <a:rPr sz="2200">
                <a:solidFill>
                  <a:srgbClr val="1B1B2E"/>
                </a:solidFill>
                <a:latin typeface="Calibri"/>
              </a:rPr>
              <a:t>Vì sao migrate sang Python lại quan trọng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Solution </a:t>
            </a:r>
            <a:r>
              <a:rPr sz="2200">
                <a:solidFill>
                  <a:srgbClr val="1B1B2E"/>
                </a:solidFill>
                <a:latin typeface="Calibri"/>
              </a:rPr>
              <a:t>Pipeline 5 bước có Cursor làm co‑pilot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Architecture </a:t>
            </a:r>
            <a:r>
              <a:rPr sz="2200">
                <a:solidFill>
                  <a:srgbClr val="1B1B2E"/>
                </a:solidFill>
                <a:latin typeface="Calibri"/>
              </a:rPr>
              <a:t>Cách hệ thống vận hành end‑to‑end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Cursor Usage </a:t>
            </a:r>
            <a:r>
              <a:rPr sz="2200">
                <a:solidFill>
                  <a:srgbClr val="1B1B2E"/>
                </a:solidFill>
                <a:latin typeface="Calibri"/>
              </a:rPr>
              <a:t>AI đã tăng tốc &amp; nâng chất lượng thế nào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Results </a:t>
            </a:r>
            <a:r>
              <a:rPr sz="2200">
                <a:solidFill>
                  <a:srgbClr val="1B1B2E"/>
                </a:solidFill>
                <a:latin typeface="Calibri"/>
              </a:rPr>
              <a:t>Số liệu định lượng + bài học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200" b="1">
                <a:solidFill>
                  <a:srgbClr val="F26B21"/>
                </a:solidFill>
                <a:latin typeface="Calibri"/>
              </a:rPr>
              <a:t>▸  </a:t>
            </a:r>
            <a:r>
              <a:rPr sz="2200" b="1">
                <a:solidFill>
                  <a:srgbClr val="1B1B2E"/>
                </a:solidFill>
                <a:latin typeface="Calibri"/>
              </a:rPr>
              <a:t>Next Steps </a:t>
            </a:r>
            <a:r>
              <a:rPr sz="2200">
                <a:solidFill>
                  <a:srgbClr val="1B1B2E"/>
                </a:solidFill>
                <a:latin typeface="Calibri"/>
              </a:rPr>
              <a:t>Lộ trình mở rộng sau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01 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Java ETL legacy đang kìm hãm team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3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55566"/>
                </a:solidFill>
                <a:latin typeface="Calibri"/>
              </a:rPr>
              <a:t>Hệ thống ETL viết bằng Java/Spring Batch, ~50K LOC, 200+ jobs, ít test, khó tích hợp AI/ML.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288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Năng suất thấp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Build Maven + redeploy JAR cho mỗi thay đổi nhỏ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Cycle time feature: 3–5 ngày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69164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69164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288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Khó tích hợp AI/ML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8600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scikit‑learn, PyTorch, LangChain… đều ở Python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Cầu nối Java ↔ Python phức tạp, dễ vỡ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69164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82880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Chi phí hạ tầng cao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JVM tốn RAM, scale kém trên Kubernetes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Container Python nhẹ hơn 40–60%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6908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0624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Onboarding chậm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Tuyển dev Java cho Data team ngày càng khó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Dev mới mất 4–6 tuần để productive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406908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60" y="406908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20624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Rủi ro khi viết 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66344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Migrate thủ công 50K LOC → dễ lệch logic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Thiếu test ⇒ không tự tin release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4069080"/>
            <a:ext cx="365760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4069080"/>
            <a:ext cx="109728" cy="2240280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206240"/>
            <a:ext cx="32918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Tài liệu mục nát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63440"/>
            <a:ext cx="329184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Knowledge nằm trong head của ex‑employees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>
                <a:solidFill>
                  <a:srgbClr val="1B1B2E"/>
                </a:solidFill>
                <a:latin typeface="Calibri"/>
              </a:rPr>
              <a:t>Reverse‑engineering tốn nhiều công sức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B1B6B"/>
                </a:solidFill>
                <a:latin typeface="Calibri"/>
              </a:rPr>
              <a:t>Câu hỏi: Làm sao migrate nhanh, an toàn và kiểm chứng được — không cần một đội 5–10 người trong nhiều quý?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02 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Tại sao bài toán này đáng giải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4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Giá trị mang lại (ước tính trên dataset demo)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26B21"/>
                </a:solidFill>
                <a:latin typeface="Calibri"/>
              </a:rPr>
              <a:t>‑40%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TCO hạ tầng / tháng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155448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73736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2B1B6B"/>
                </a:solidFill>
                <a:latin typeface="Calibri"/>
              </a:rPr>
              <a:t>10×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51460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Tốc độ migrate vs làm tay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26B21"/>
                </a:solidFill>
                <a:latin typeface="Calibri"/>
              </a:rPr>
              <a:t>+86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690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Tăng test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3108960"/>
            <a:ext cx="26060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3291840"/>
            <a:ext cx="26060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2B1B6B"/>
                </a:solidFill>
                <a:latin typeface="Calibri"/>
              </a:rPr>
              <a:t>‑70%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069080"/>
            <a:ext cx="2606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Time onboarding dev mới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1554480"/>
          <a:ext cx="5349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Khía cạnh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Java ETL (trước)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Python + Cursor (sau)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Time‑to‑feature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3–5 ngày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&lt; 1 ngày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Runtime trung bình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26B21"/>
                          </a:solidFill>
                          <a:latin typeface="Calibri"/>
                        </a:rPr>
                        <a:t>+10–20% nhanh hơn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Chi phí hạ tầng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60–70%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Test coverage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&lt; 20%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&gt; 80%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Onboarding 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4–6 tuần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1–2 tuần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Tích hợp AI/ML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Khó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Native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57200" y="4754880"/>
            <a:ext cx="1133856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Business: </a:t>
            </a:r>
            <a:r>
              <a:rPr sz="1400">
                <a:solidFill>
                  <a:srgbClr val="1B1B2E"/>
                </a:solidFill>
                <a:latin typeface="Calibri"/>
              </a:rPr>
              <a:t>rút ngắn time‑to‑insight, giảm TCO, mở khoá AI/ML.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Engineering: </a:t>
            </a:r>
            <a:r>
              <a:rPr sz="1400">
                <a:solidFill>
                  <a:srgbClr val="1B1B2E"/>
                </a:solidFill>
                <a:latin typeface="Calibri"/>
              </a:rPr>
              <a:t>code base hiện đại, dễ test, CI/CD nhanh.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People: </a:t>
            </a:r>
            <a:r>
              <a:rPr sz="1400">
                <a:solidFill>
                  <a:srgbClr val="1B1B2E"/>
                </a:solidFill>
                <a:latin typeface="Calibri"/>
              </a:rPr>
              <a:t>dev tập trung vào logic data, không còn boilerplate Java.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03 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Cursor như “Migration Co‑Pilot” — pipeline 5 bước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5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2249424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2"/>
            <a:ext cx="1335024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Inventory &amp; 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792224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1B2E"/>
                </a:solidFill>
                <a:latin typeface="Calibri"/>
              </a:rPr>
              <a:t>Quét Java repo, dựng dependency graph, phân loại job theo độ phức tạp.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2212848"/>
            <a:ext cx="164592" cy="329184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9776" y="1280160"/>
            <a:ext cx="2249424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62656" y="1463040"/>
            <a:ext cx="502920" cy="502920"/>
          </a:xfrm>
          <a:prstGeom prst="ellipse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1444752"/>
            <a:ext cx="1335024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AI Translation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6" y="2057400"/>
            <a:ext cx="1792224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1B2E"/>
                </a:solidFill>
                <a:latin typeface="Calibri"/>
              </a:rPr>
              <a:t>Cursor Agent + custom rules dịch Spring Batch → Airflow, JDBC → SQLAlchemy/Polars.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2212848"/>
            <a:ext cx="164592" cy="329184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02352" y="1280160"/>
            <a:ext cx="2249424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85232" y="1463040"/>
            <a:ext cx="502920" cy="502920"/>
          </a:xfrm>
          <a:prstGeom prst="ellipse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9592" y="1444752"/>
            <a:ext cx="1335024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Auto Test 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2057400"/>
            <a:ext cx="1792224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1B2E"/>
                </a:solidFill>
                <a:latin typeface="Calibri"/>
              </a:rPr>
              <a:t>Sinh pytest từ chữ ký + golden dataset chạy từ Java cũ làm oracle.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306056" y="2212848"/>
            <a:ext cx="164592" cy="329184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4928" y="1280160"/>
            <a:ext cx="2249424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07808" y="1463040"/>
            <a:ext cx="502920" cy="502920"/>
          </a:xfrm>
          <a:prstGeom prst="ellipse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2168" y="1444752"/>
            <a:ext cx="1335024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Validation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2057400"/>
            <a:ext cx="1792224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1B2E"/>
                </a:solidFill>
                <a:latin typeface="Calibri"/>
              </a:rPr>
              <a:t>Chạy song song Java vs Python, diff row‑by‑row + KPI report HTML.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628632" y="2212848"/>
            <a:ext cx="164592" cy="329184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47504" y="1280160"/>
            <a:ext cx="2249424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30384" y="1463040"/>
            <a:ext cx="502920" cy="502920"/>
          </a:xfrm>
          <a:prstGeom prst="ellipse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b="1" sz="180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24744" y="1444752"/>
            <a:ext cx="1335024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6104" y="2057400"/>
            <a:ext cx="1792224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B1B2E"/>
                </a:solidFill>
                <a:latin typeface="Calibri"/>
              </a:rPr>
              <a:t>Cursor đề xuất refactor (typing, async, vectorize). PR kèm checklist đối chiếu.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Cursor capabilities được dùng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1133856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Cursor Agent </a:t>
            </a:r>
            <a:r>
              <a:rPr sz="1400">
                <a:solidFill>
                  <a:srgbClr val="1B1B2E"/>
                </a:solidFill>
                <a:latin typeface="Calibri"/>
              </a:rPr>
              <a:t>dịch nhiều file cùng lúc, hiểu cả module.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Custom rules (.cursor/rules) </a:t>
            </a:r>
            <a:r>
              <a:rPr sz="1400">
                <a:solidFill>
                  <a:srgbClr val="1B1B2E"/>
                </a:solidFill>
                <a:latin typeface="Calibri"/>
              </a:rPr>
              <a:t>ép coding style, type hints, cấm API deprecated.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Background Agents </a:t>
            </a:r>
            <a:r>
              <a:rPr sz="1400">
                <a:solidFill>
                  <a:srgbClr val="1B1B2E"/>
                </a:solidFill>
                <a:latin typeface="Calibri"/>
              </a:rPr>
              <a:t>chạy migration song song nhiều job qua đêm.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F26B21"/>
                </a:solidFill>
                <a:latin typeface="Calibri"/>
              </a:rPr>
              <a:t>▸  </a:t>
            </a:r>
            <a:r>
              <a:rPr sz="1400" b="1">
                <a:solidFill>
                  <a:srgbClr val="1B1B2E"/>
                </a:solidFill>
                <a:latin typeface="Calibri"/>
              </a:rPr>
              <a:t>Inline edit &amp; Chat </a:t>
            </a:r>
            <a:r>
              <a:rPr sz="1400">
                <a:solidFill>
                  <a:srgbClr val="1B1B2E"/>
                </a:solidFill>
                <a:latin typeface="Calibri"/>
              </a:rPr>
              <a:t>giải thích, refactor từng đoạn business logic.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B1B6B"/>
                </a:solidFill>
                <a:latin typeface="Calibri"/>
              </a:rPr>
              <a:t>Tech stack:  Python 3.12 · Polars / PySpark · SQLAlchemy · Airflow 2 · pytest · Cursor · GitHub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04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End‑to‑end flow của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6 /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2194560" cy="914400"/>
          </a:xfrm>
          <a:prstGeom prst="roundRect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Java ETL
(legacy)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11680"/>
            <a:ext cx="2194560" cy="914400"/>
          </a:xfrm>
          <a:prstGeom prst="roundRect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Parser / AST
+ Specs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011680"/>
            <a:ext cx="2194560" cy="914400"/>
          </a:xfrm>
          <a:prstGeom prst="round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Cursor Agent
(Translation)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2194560" cy="914400"/>
          </a:xfrm>
          <a:prstGeom prst="roundRect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Python ETL
Airflow + Polars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1760" y="2331720"/>
            <a:ext cx="365760" cy="274320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212080" y="2331720"/>
            <a:ext cx="365760" cy="274320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772400" y="2331720"/>
            <a:ext cx="365760" cy="274320"/>
          </a:xfrm>
          <a:prstGeom prst="righ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77840" y="4023360"/>
            <a:ext cx="2194560" cy="914400"/>
          </a:xfrm>
          <a:prstGeom prst="roundRect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Validation Harness
(Diff vs Java)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023360"/>
            <a:ext cx="2194560" cy="914400"/>
          </a:xfrm>
          <a:prstGeom prst="roundRect">
            <a:avLst/>
          </a:prstGeom>
          <a:solidFill>
            <a:srgbClr val="2B1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Production
(Airflow / K8s)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098280" y="2926080"/>
            <a:ext cx="274320" cy="1097280"/>
          </a:xfrm>
          <a:prstGeom prst="down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7772400" y="4343400"/>
            <a:ext cx="365760" cy="274320"/>
          </a:xfrm>
          <a:prstGeom prst="leftArrow">
            <a:avLst/>
          </a:prstGeom>
          <a:solidFill>
            <a:srgbClr val="F2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555566"/>
                </a:solidFill>
                <a:latin typeface="Calibri"/>
              </a:rPr>
              <a:t>Mỗi mũi tên cam = bước được tăng tốc bằng Cursor (translation, test gen, refactor).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B1B6B"/>
                </a:solidFill>
                <a:latin typeface="Calibri"/>
              </a:rPr>
              <a:t>Vai trò của Cursor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760720"/>
            <a:ext cx="11338560" cy="822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 b="1">
                <a:solidFill>
                  <a:srgbClr val="1B1B2E"/>
                </a:solidFill>
                <a:latin typeface="Calibri"/>
              </a:rPr>
              <a:t>Hiểu code legacy: </a:t>
            </a:r>
            <a:r>
              <a:rPr sz="1200">
                <a:solidFill>
                  <a:srgbClr val="1B1B2E"/>
                </a:solidFill>
                <a:latin typeface="Calibri"/>
              </a:rPr>
              <a:t>giải thích Spring Batch reader/processor/writer trong vài giây.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26B21"/>
                </a:solidFill>
                <a:latin typeface="Calibri"/>
              </a:rPr>
              <a:t>▸  </a:t>
            </a:r>
            <a:r>
              <a:rPr sz="1200" b="1">
                <a:solidFill>
                  <a:srgbClr val="1B1B2E"/>
                </a:solidFill>
                <a:latin typeface="Calibri"/>
              </a:rPr>
              <a:t>Sinh code idiomatic: </a:t>
            </a:r>
            <a:r>
              <a:rPr sz="1200">
                <a:solidFill>
                  <a:srgbClr val="1B1B2E"/>
                </a:solidFill>
                <a:latin typeface="Calibri"/>
              </a:rPr>
              <a:t>không dịch 1‑1, refactor sang Polars/Airflow đúng best‑practice.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05  CURSOR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 end‑to‑end (5–7 phút, synthetic 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7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Kịch bản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0:30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Mở repo Java mẫu CustomerEnrichmentJob.java (~400 LOC, 3 step).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1:30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Cursor Agent prompt: ‘Convert sang Airflow DAG dùng Polars, giữ logic, thêm tests.’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2:00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Multi‑file edit: tạo dags/, tasks/, tests/. Cursor giải thích từng bước.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1:00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Chạy pytest → pass với golden dataset.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1:00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Validation harness: Java vs Python → 0 mismatch trên 1.2M rows.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b="1" sz="1300">
                <a:solidFill>
                  <a:srgbClr val="F26B21"/>
                </a:solidFill>
                <a:latin typeface="Calibri"/>
              </a:rPr>
              <a:t>  0:30  </a:t>
            </a:r>
            <a:r>
              <a:t>  </a:t>
            </a:r>
            <a:r>
              <a:rPr sz="1300">
                <a:solidFill>
                  <a:srgbClr val="1B1B2E"/>
                </a:solidFill>
                <a:latin typeface="Calibri"/>
              </a:rPr>
              <a:t>Show metrics: LOC ‑38%, runtime ‑15%, coverage 0% → 86%.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188720"/>
            <a:ext cx="521208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188720"/>
            <a:ext cx="5212080" cy="45720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225296"/>
            <a:ext cx="49377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Cursor đã giúp như thế nào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783080"/>
            <a:ext cx="4937760" cy="4297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Hiểu legacy nhanh: </a:t>
            </a:r>
            <a:r>
              <a:rPr sz="1300">
                <a:solidFill>
                  <a:srgbClr val="1B1B2E"/>
                </a:solidFill>
                <a:latin typeface="Calibri"/>
              </a:rPr>
              <a:t>explain code Java + Spring Batch trong vài giây.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Translation thông minh: </a:t>
            </a:r>
            <a:r>
              <a:rPr sz="1300">
                <a:solidFill>
                  <a:srgbClr val="1B1B2E"/>
                </a:solidFill>
                <a:latin typeface="Calibri"/>
              </a:rPr>
              <a:t>không dịch 1‑1, sinh code Pythonic, idiomatic.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Test tự động: </a:t>
            </a:r>
            <a:r>
              <a:rPr sz="1300">
                <a:solidFill>
                  <a:srgbClr val="1B1B2E"/>
                </a:solidFill>
                <a:latin typeface="Calibri"/>
              </a:rPr>
              <a:t>pytest + fixture sinh từ schema thật.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Refactor đa file: </a:t>
            </a:r>
            <a:r>
              <a:rPr sz="1300">
                <a:solidFill>
                  <a:srgbClr val="1B1B2E"/>
                </a:solidFill>
                <a:latin typeface="Calibri"/>
              </a:rPr>
              <a:t>đổi đồng bộ cả module, không sót call‑site.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Background agents: </a:t>
            </a:r>
            <a:r>
              <a:rPr sz="1300">
                <a:solidFill>
                  <a:srgbClr val="1B1B2E"/>
                </a:solidFill>
                <a:latin typeface="Calibri"/>
              </a:rPr>
              <a:t>migrate hàng loạt job qua đêm.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Code review hỗ trợ: </a:t>
            </a:r>
            <a:r>
              <a:rPr sz="1300">
                <a:solidFill>
                  <a:srgbClr val="1B1B2E"/>
                </a:solidFill>
                <a:latin typeface="Calibri"/>
              </a:rPr>
              <a:t>phát hiện sai lệch ngữ nghĩa khi diff với bản Java.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06 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Số liệu trên repo demo (~5K LOC Java)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8 / 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Trước (Java)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Sau (Python + Cursor)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91440" marR="91440">
                    <a:solidFill>
                      <a:srgbClr val="2B1B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Lines of Code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5,120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3,180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‑38%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Avg job runtime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412 s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350 s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‑15%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Test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26B21"/>
                          </a:solidFill>
                          <a:latin typeface="Calibri"/>
                        </a:rPr>
                        <a:t>+86 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Memory peak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2.4 GB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1.1 GB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‑54%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Migration effort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~120h 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~9h with Cursor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‑92%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Output diff vs Java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B1B2E"/>
                          </a:solidFill>
                          <a:latin typeface="Calibri"/>
                        </a:rPr>
                        <a:t>0 mismatch / 1.2M rows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26B21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 marL="91440" marR="91440" marT="45720" marB="45720"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138160" y="11887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37160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26B21"/>
                </a:solidFill>
                <a:latin typeface="Calibri"/>
              </a:rPr>
              <a:t>10×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Faster migration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36576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971800"/>
            <a:ext cx="3657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2B1B6B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7490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Output mismatches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B1B6B"/>
                </a:solidFill>
                <a:latin typeface="Calibri"/>
              </a:rPr>
              <a:t>Kết quả định tính &amp; bài học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338560" cy="15544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Code base hiện đại: </a:t>
            </a:r>
            <a:r>
              <a:rPr sz="1300">
                <a:solidFill>
                  <a:srgbClr val="1B1B2E"/>
                </a:solidFill>
                <a:latin typeface="Calibri"/>
              </a:rPr>
              <a:t>type hints, docstring, dễ tích hợp dbt + MLflow.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Pattern lặp được: </a:t>
            </a:r>
            <a:r>
              <a:rPr sz="1300">
                <a:solidFill>
                  <a:srgbClr val="1B1B2E"/>
                </a:solidFill>
                <a:latin typeface="Calibri"/>
              </a:rPr>
              <a:t>scale dễ ra toàn bộ ETL legacy của tổ chức.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Bài học: </a:t>
            </a:r>
            <a:r>
              <a:rPr sz="1300">
                <a:solidFill>
                  <a:srgbClr val="1B1B2E"/>
                </a:solidFill>
                <a:latin typeface="Calibri"/>
              </a:rPr>
              <a:t>Cursor mạnh nhất khi có context (schema, sample data, business rule).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F26B21"/>
                </a:solidFill>
                <a:latin typeface="Calibri"/>
              </a:rPr>
              <a:t>▸  </a:t>
            </a:r>
            <a:r>
              <a:rPr sz="1300" b="1">
                <a:solidFill>
                  <a:srgbClr val="1B1B2E"/>
                </a:solidFill>
                <a:latin typeface="Calibri"/>
              </a:rPr>
              <a:t>Lưới an toàn: </a:t>
            </a:r>
            <a:r>
              <a:rPr sz="1300">
                <a:solidFill>
                  <a:srgbClr val="1B1B2E"/>
                </a:solidFill>
                <a:latin typeface="Calibri"/>
              </a:rPr>
              <a:t>Validation harness là điều kiện bắt buộc để AI‑migration production‑ready.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F26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DE1CE"/>
                </a:solidFill>
                <a:latin typeface="Calibri"/>
              </a:rPr>
              <a:t>07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"/>
            <a:ext cx="10058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Tổng kết &amp; bước tiếp theo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555566"/>
                </a:solidFill>
                <a:latin typeface="Calibri"/>
              </a:rPr>
              <a:t>AI Hackathon 2026  •  Java ETL → Python with Cursor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555566"/>
                </a:solidFill>
                <a:latin typeface="Calibri"/>
              </a:rP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B1B6B"/>
                </a:solidFill>
                <a:latin typeface="Calibri"/>
              </a:rPr>
              <a:t>Tóm tắt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133856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Khả thi: </a:t>
            </a:r>
            <a:r>
              <a:rPr sz="1500">
                <a:solidFill>
                  <a:srgbClr val="1B1B2E"/>
                </a:solidFill>
                <a:latin typeface="Calibri"/>
              </a:rPr>
              <a:t>AI‑assisted migration Java → Python chạy được end‑to‑end.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Nhanh: </a:t>
            </a:r>
            <a:r>
              <a:rPr sz="1500">
                <a:solidFill>
                  <a:srgbClr val="1B1B2E"/>
                </a:solidFill>
                <a:latin typeface="Calibri"/>
              </a:rPr>
              <a:t>10× tốc độ vs làm tay, chi phí thấp hơn rõ rệt.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An toàn: </a:t>
            </a:r>
            <a:r>
              <a:rPr sz="1500">
                <a:solidFill>
                  <a:srgbClr val="1B1B2E"/>
                </a:solidFill>
                <a:latin typeface="Calibri"/>
              </a:rPr>
              <a:t>Validation harness + auto test ⇒ 0 mismatch so với Java.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2B1B6B"/>
                </a:solidFill>
                <a:latin typeface="Calibri"/>
              </a:rPr>
              <a:t>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133856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CLI open‑source: </a:t>
            </a:r>
            <a:r>
              <a:rPr sz="1500">
                <a:solidFill>
                  <a:srgbClr val="1B1B2E"/>
                </a:solidFill>
                <a:latin typeface="Calibri"/>
              </a:rPr>
              <a:t>đóng gói pipeline thành tool etl-modernize.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Mở rộng nguồn: </a:t>
            </a:r>
            <a:r>
              <a:rPr sz="1500">
                <a:solidFill>
                  <a:srgbClr val="1B1B2E"/>
                </a:solidFill>
                <a:latin typeface="Calibri"/>
              </a:rPr>
              <a:t>hỗ trợ Scala, PL/SQL, Informatica → Python.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Background agents: </a:t>
            </a:r>
            <a:r>
              <a:rPr sz="1500">
                <a:solidFill>
                  <a:srgbClr val="1B1B2E"/>
                </a:solidFill>
                <a:latin typeface="Calibri"/>
              </a:rPr>
              <a:t>migrate hàng loạt job qua đêm, có review report.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F26B21"/>
                </a:solidFill>
                <a:latin typeface="Calibri"/>
              </a:rPr>
              <a:t>▸  </a:t>
            </a:r>
            <a:r>
              <a:rPr sz="1500" b="1">
                <a:solidFill>
                  <a:srgbClr val="1B1B2E"/>
                </a:solidFill>
                <a:latin typeface="Calibri"/>
              </a:rPr>
              <a:t>AI reviewer: </a:t>
            </a:r>
            <a:r>
              <a:rPr sz="1500">
                <a:solidFill>
                  <a:srgbClr val="1B1B2E"/>
                </a:solidFill>
                <a:latin typeface="Calibri"/>
              </a:rPr>
              <a:t>tự động kiểm tra semantic equivalence trước khi merge.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solidFill>
            <a:srgbClr val="2B1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Cho phép team Data ‘tốt nghiệp’ khỏi ETL legacy — với Cursor làm bạn đồng hành.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